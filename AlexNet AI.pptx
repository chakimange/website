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069AF-3550-43F9-9F0D-FBD257FA84A6}" v="1758" dt="2025-11-11T05:03:24.257"/>
    <p1510:client id="{884115D7-46C5-4C3A-97F5-2855DE324306}" v="125" dt="2025-11-12T06:45:28.954"/>
    <p1510:client id="{E6C9583A-2303-4562-8A8E-0A7BA344D263}" v="226" dt="2025-11-10T06:47:33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0" d="100"/>
          <a:sy n="60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fr-FR" sz="5400"/>
              <a:t>AlexNet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000"/>
              <a:t>Introduction to Computer Vision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que 3" descr="AlexNet - Wikipedia">
            <a:extLst>
              <a:ext uri="{FF2B5EF4-FFF2-40B4-BE49-F238E27FC236}">
                <a16:creationId xmlns:a16="http://schemas.microsoft.com/office/drawing/2014/main" id="{62D053DB-B3BD-D55D-8EB3-00B002C92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9398" y="666728"/>
            <a:ext cx="3662189" cy="546579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114DD34-9476-41C5-1117-F885D05E3DEE}"/>
              </a:ext>
            </a:extLst>
          </p:cNvPr>
          <p:cNvSpPr txBox="1"/>
          <p:nvPr/>
        </p:nvSpPr>
        <p:spPr>
          <a:xfrm>
            <a:off x="364824" y="5494386"/>
            <a:ext cx="34305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Cordonnier Xavier</a:t>
            </a:r>
          </a:p>
          <a:p>
            <a:r>
              <a:rPr lang="fr-FR" dirty="0"/>
              <a:t>2025/11/12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3B73ED-7F84-C696-BCBF-2BEFC4EA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72343" y="6236607"/>
            <a:ext cx="2743200" cy="365125"/>
          </a:xfrm>
        </p:spPr>
        <p:txBody>
          <a:bodyPr/>
          <a:lstStyle/>
          <a:p>
            <a:fld id="{27C6CCC6-2BE5-4E42-96A4-D1E8E81A3D8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6097E-9E43-4244-74D9-431ADE4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A8CBC52-8A17-52D8-4529-38F83D5A43E0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New step in CNN usage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Prove the potential of CNN over supervise methods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Introduction of new solutions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 of 2 GPU as processing unit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Win the 2012 ILSVRC </a:t>
            </a:r>
          </a:p>
        </p:txBody>
      </p:sp>
      <p:pic>
        <p:nvPicPr>
          <p:cNvPr id="19" name="Image 18" descr="Review: AlexNet, CaffeNet — Winner of ILSVRC 2012 (Image Classification) |  by Sik-Ho Tsang | Coinmonks | Medium">
            <a:extLst>
              <a:ext uri="{FF2B5EF4-FFF2-40B4-BE49-F238E27FC236}">
                <a16:creationId xmlns:a16="http://schemas.microsoft.com/office/drawing/2014/main" id="{62C881F9-443F-97A8-5614-7AA9EC654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925" y="2484255"/>
            <a:ext cx="5105490" cy="371424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57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5F1A87-3569-A9BF-ADF2-3D6FBD57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Technical description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367AD-09AB-56D2-39E2-867734AAF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8 layers network</a:t>
            </a:r>
          </a:p>
          <a:p>
            <a:r>
              <a:rPr lang="en-US" sz="2400" dirty="0"/>
              <a:t>Max pooling</a:t>
            </a:r>
          </a:p>
          <a:p>
            <a:r>
              <a:rPr lang="en-US" sz="2400" dirty="0" err="1"/>
              <a:t>ReLu</a:t>
            </a:r>
            <a:r>
              <a:rPr lang="en-US" sz="2400" dirty="0"/>
              <a:t> and </a:t>
            </a:r>
            <a:r>
              <a:rPr lang="en-US" sz="2400"/>
              <a:t>SoftMax activation</a:t>
            </a:r>
            <a:r>
              <a:rPr lang="en-US" sz="2400" dirty="0"/>
              <a:t> function</a:t>
            </a:r>
            <a:endParaRPr lang="en-US" dirty="0"/>
          </a:p>
          <a:p>
            <a:r>
              <a:rPr lang="en-US" sz="2400" dirty="0"/>
              <a:t>Image augmentation technics</a:t>
            </a:r>
          </a:p>
          <a:p>
            <a:r>
              <a:rPr lang="en-US" sz="2400" dirty="0"/>
              <a:t>LRN and dropout normalization</a:t>
            </a:r>
          </a:p>
          <a:p>
            <a:endParaRPr lang="fr-FR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Deep Learning in Image Classification">
            <a:extLst>
              <a:ext uri="{FF2B5EF4-FFF2-40B4-BE49-F238E27FC236}">
                <a16:creationId xmlns:a16="http://schemas.microsoft.com/office/drawing/2014/main" id="{C879E98D-6BC7-C17C-D431-C22A2C21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218" y="3020477"/>
            <a:ext cx="5341793" cy="222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00C04D-2B67-B8A7-74C1-BA3DAD20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Technical description</a:t>
            </a:r>
            <a:endParaRPr lang="fr-FR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BC55662-1ADE-E203-843F-879269B98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72922"/>
              </p:ext>
            </p:extLst>
          </p:nvPr>
        </p:nvGraphicFramePr>
        <p:xfrm>
          <a:off x="-10885" y="2917371"/>
          <a:ext cx="12200034" cy="3048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339">
                  <a:extLst>
                    <a:ext uri="{9D8B030D-6E8A-4147-A177-3AD203B41FA5}">
                      <a16:colId xmlns:a16="http://schemas.microsoft.com/office/drawing/2014/main" val="16299415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3431649365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4292230122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446942473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3465045469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858603702"/>
                    </a:ext>
                  </a:extLst>
                </a:gridCol>
              </a:tblGrid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en-GB" b="0" noProof="0" dirty="0"/>
                        <a:t>Feature map / Image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/>
                        <a:t>Filter</a:t>
                      </a:r>
                      <a:r>
                        <a:rPr lang="fr-FR" b="0" dirty="0"/>
                        <a:t>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err="1"/>
                        <a:t>padding</a:t>
                      </a:r>
                      <a:endParaRPr lang="fr-FR" b="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Stride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err="1"/>
                        <a:t>pooling</a:t>
                      </a:r>
                      <a:endParaRPr lang="fr-FR" b="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b="0" dirty="0" err="1"/>
                        <a:t>Normalization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089376"/>
                  </a:ext>
                </a:extLst>
              </a:tr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224*224*3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11*11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LRN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475431"/>
                  </a:ext>
                </a:extLst>
              </a:tr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27*27*256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5*5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LRN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576892"/>
                  </a:ext>
                </a:extLst>
              </a:tr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13*13*384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3*3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945958"/>
                  </a:ext>
                </a:extLst>
              </a:tr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13*13*384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3*3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956867"/>
                  </a:ext>
                </a:extLst>
              </a:tr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13*13*256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3*3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200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060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69709-5C5C-435E-B73B-1EE08A23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FDEB8D-B73B-A7E9-023B-056B4EB00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304F7D-66E4-D33A-C482-305B1CA16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56EA9D-922C-C1DE-619D-AAE9454301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80CF47-A67E-3AAD-52CC-E41A7B074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BFC287-148F-B9C4-8FD2-7DDB01957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40AF320-8277-9474-961D-3DE81BC8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554B6E-8B13-58B9-4C9B-B64224BF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Technical description</a:t>
            </a:r>
            <a:endParaRPr lang="fr-FR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5683C5-32AC-9999-3C38-ADABB2E15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71EB2F85-9BC6-F56D-97B1-31CC8BEF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728216"/>
              </p:ext>
            </p:extLst>
          </p:nvPr>
        </p:nvGraphicFramePr>
        <p:xfrm>
          <a:off x="2775857" y="3058886"/>
          <a:ext cx="6630522" cy="243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174">
                  <a:extLst>
                    <a:ext uri="{9D8B030D-6E8A-4147-A177-3AD203B41FA5}">
                      <a16:colId xmlns:a16="http://schemas.microsoft.com/office/drawing/2014/main" val="2007464511"/>
                    </a:ext>
                  </a:extLst>
                </a:gridCol>
                <a:gridCol w="2210174">
                  <a:extLst>
                    <a:ext uri="{9D8B030D-6E8A-4147-A177-3AD203B41FA5}">
                      <a16:colId xmlns:a16="http://schemas.microsoft.com/office/drawing/2014/main" val="1705930479"/>
                    </a:ext>
                  </a:extLst>
                </a:gridCol>
                <a:gridCol w="2210174">
                  <a:extLst>
                    <a:ext uri="{9D8B030D-6E8A-4147-A177-3AD203B41FA5}">
                      <a16:colId xmlns:a16="http://schemas.microsoft.com/office/drawing/2014/main" val="1350624976"/>
                    </a:ext>
                  </a:extLst>
                </a:gridCol>
              </a:tblGrid>
              <a:tr h="598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b="0" err="1"/>
                        <a:t>Fully</a:t>
                      </a:r>
                      <a:r>
                        <a:rPr lang="fr-FR" b="0" dirty="0"/>
                        <a:t> </a:t>
                      </a:r>
                      <a:r>
                        <a:rPr lang="fr-FR" b="0" err="1"/>
                        <a:t>connected</a:t>
                      </a:r>
                      <a:r>
                        <a:rPr lang="fr-FR" b="0" dirty="0"/>
                        <a:t> layer </a:t>
                      </a:r>
                      <a:r>
                        <a:rPr lang="fr-FR" b="0" err="1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err="1"/>
                        <a:t>Number</a:t>
                      </a:r>
                      <a:r>
                        <a:rPr lang="fr-FR" b="0" dirty="0"/>
                        <a:t> of </a:t>
                      </a:r>
                      <a:r>
                        <a:rPr lang="fr-FR" b="0" err="1"/>
                        <a:t>neurons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b="0" err="1"/>
                        <a:t>Normalization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68013"/>
                  </a:ext>
                </a:extLst>
              </a:tr>
              <a:tr h="598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Dropout 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93056"/>
                  </a:ext>
                </a:extLst>
              </a:tr>
              <a:tr h="598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Dropout 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381480"/>
                  </a:ext>
                </a:extLst>
              </a:tr>
              <a:tr h="5988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593899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0D12258C-1063-4010-0BC5-6CD4A2525FAB}"/>
              </a:ext>
            </a:extLst>
          </p:cNvPr>
          <p:cNvSpPr txBox="1"/>
          <p:nvPr/>
        </p:nvSpPr>
        <p:spPr>
          <a:xfrm>
            <a:off x="833144" y="5732764"/>
            <a:ext cx="97361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/>
              <a:t>Returns a 2d vector with the score for each of the 1000 classes</a:t>
            </a:r>
          </a:p>
        </p:txBody>
      </p:sp>
    </p:spTree>
    <p:extLst>
      <p:ext uri="{BB962C8B-B14F-4D97-AF65-F5344CB8AC3E}">
        <p14:creationId xmlns:p14="http://schemas.microsoft.com/office/powerpoint/2010/main" val="4019168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585B3-820E-1314-A0A9-15FFD11A9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E310BC-E0DD-0FFB-BF06-20E0EA2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0D1EB8-54F1-8937-6518-F6B56320C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3CF5CFB-A3B1-2981-FC75-0A6F75DCF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4DF693B-E062-595E-EBDC-2A6B1D601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C6A9AF-E5DC-C89B-3A8C-7AB2440C2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16E8D9B-30C5-18EB-6372-DDAB0B7F6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89659E-FE1B-FC72-3BB4-791C841F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Technical description</a:t>
            </a:r>
            <a:endParaRPr lang="fr-FR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27E25A-9169-C3EF-C408-FF146DB2F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32DAE90-D3D9-000D-E264-BF2241FE1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753945"/>
              </p:ext>
            </p:extLst>
          </p:nvPr>
        </p:nvGraphicFramePr>
        <p:xfrm>
          <a:off x="1012372" y="3026228"/>
          <a:ext cx="10166695" cy="1927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339">
                  <a:extLst>
                    <a:ext uri="{9D8B030D-6E8A-4147-A177-3AD203B41FA5}">
                      <a16:colId xmlns:a16="http://schemas.microsoft.com/office/drawing/2014/main" val="16299415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3431649365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4292230122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446942473"/>
                    </a:ext>
                  </a:extLst>
                </a:gridCol>
                <a:gridCol w="2033339">
                  <a:extLst>
                    <a:ext uri="{9D8B030D-6E8A-4147-A177-3AD203B41FA5}">
                      <a16:colId xmlns:a16="http://schemas.microsoft.com/office/drawing/2014/main" val="3465045469"/>
                    </a:ext>
                  </a:extLst>
                </a:gridCol>
              </a:tblGrid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en-GB" b="0" noProof="0" dirty="0"/>
                        <a:t>Feature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 err="1"/>
                        <a:t>Pooling</a:t>
                      </a:r>
                      <a:r>
                        <a:rPr lang="fr-FR" b="0" dirty="0"/>
                        <a:t>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err="1"/>
                        <a:t>padding</a:t>
                      </a:r>
                      <a:endParaRPr lang="fr-FR" b="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Stride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Size </a:t>
                      </a:r>
                      <a:r>
                        <a:rPr lang="fr-FR" b="0" dirty="0" err="1"/>
                        <a:t>after</a:t>
                      </a:r>
                      <a:r>
                        <a:rPr lang="fr-FR" b="0" dirty="0"/>
                        <a:t> polling</a:t>
                      </a:r>
                      <a:endParaRPr lang="fr-FR" b="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089376"/>
                  </a:ext>
                </a:extLst>
              </a:tr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55*55*96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3*3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27*27*96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475431"/>
                  </a:ext>
                </a:extLst>
              </a:tr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27*27*256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3*3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13*13*256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576892"/>
                  </a:ext>
                </a:extLst>
              </a:tr>
              <a:tr h="48178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13*13*256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3*3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6*6*256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200395"/>
                  </a:ext>
                </a:extLst>
              </a:tr>
            </a:tbl>
          </a:graphicData>
        </a:graphic>
      </p:graphicFrame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9475D4D-EBCE-F8A4-BA81-609ED0491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37740"/>
              </p:ext>
            </p:extLst>
          </p:nvPr>
        </p:nvGraphicFramePr>
        <p:xfrm>
          <a:off x="7119257" y="5323114"/>
          <a:ext cx="208064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129">
                  <a:extLst>
                    <a:ext uri="{9D8B030D-6E8A-4147-A177-3AD203B41FA5}">
                      <a16:colId xmlns:a16="http://schemas.microsoft.com/office/drawing/2014/main" val="1505765988"/>
                    </a:ext>
                  </a:extLst>
                </a:gridCol>
                <a:gridCol w="416129">
                  <a:extLst>
                    <a:ext uri="{9D8B030D-6E8A-4147-A177-3AD203B41FA5}">
                      <a16:colId xmlns:a16="http://schemas.microsoft.com/office/drawing/2014/main" val="3659241267"/>
                    </a:ext>
                  </a:extLst>
                </a:gridCol>
                <a:gridCol w="416129">
                  <a:extLst>
                    <a:ext uri="{9D8B030D-6E8A-4147-A177-3AD203B41FA5}">
                      <a16:colId xmlns:a16="http://schemas.microsoft.com/office/drawing/2014/main" val="280583220"/>
                    </a:ext>
                  </a:extLst>
                </a:gridCol>
                <a:gridCol w="416129">
                  <a:extLst>
                    <a:ext uri="{9D8B030D-6E8A-4147-A177-3AD203B41FA5}">
                      <a16:colId xmlns:a16="http://schemas.microsoft.com/office/drawing/2014/main" val="2528291656"/>
                    </a:ext>
                  </a:extLst>
                </a:gridCol>
                <a:gridCol w="416129">
                  <a:extLst>
                    <a:ext uri="{9D8B030D-6E8A-4147-A177-3AD203B41FA5}">
                      <a16:colId xmlns:a16="http://schemas.microsoft.com/office/drawing/2014/main" val="2013592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09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76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47332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3D39B490-DB4E-72BE-9A53-ECE43E79A522}"/>
              </a:ext>
            </a:extLst>
          </p:cNvPr>
          <p:cNvSpPr txBox="1"/>
          <p:nvPr/>
        </p:nvSpPr>
        <p:spPr>
          <a:xfrm>
            <a:off x="1617337" y="5695633"/>
            <a:ext cx="46067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Pooling windows are overlapping :</a:t>
            </a:r>
          </a:p>
        </p:txBody>
      </p:sp>
    </p:spTree>
    <p:extLst>
      <p:ext uri="{BB962C8B-B14F-4D97-AF65-F5344CB8AC3E}">
        <p14:creationId xmlns:p14="http://schemas.microsoft.com/office/powerpoint/2010/main" val="279199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D1757-872A-A383-E348-1EB2615E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B0A733-9D3C-C92E-1D74-B25400665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9C29CA-E34E-8A65-6F9B-C0822112F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125C3-27A0-1450-F9EA-B38906457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ACE696-EBDB-B42E-75DE-615C49D79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E47D2A-E481-6E14-ED6F-D1C32CC57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4F7DE24-971F-6FDC-3490-CB771A55E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C7C176-06D5-4E05-D3E8-62DD3165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Observations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E6A4C97-404A-2800-696F-A068D91B4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042BF6BD-6EAD-492C-070B-9A49C0B7C75E}"/>
              </a:ext>
            </a:extLst>
          </p:cNvPr>
          <p:cNvSpPr txBox="1"/>
          <p:nvPr/>
        </p:nvSpPr>
        <p:spPr>
          <a:xfrm>
            <a:off x="931056" y="3076533"/>
            <a:ext cx="1032426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dirty="0"/>
              <a:t>The last Convolutional layer :</a:t>
            </a:r>
          </a:p>
          <a:p>
            <a:endParaRPr lang="fr-FR" sz="2800" dirty="0"/>
          </a:p>
          <a:p>
            <a:r>
              <a:rPr lang="fr-FR" sz="2800" dirty="0"/>
              <a:t>        6*6*256 = 9 216 and not 4 096</a:t>
            </a:r>
          </a:p>
          <a:p>
            <a:endParaRPr lang="fr-FR" sz="2800" dirty="0"/>
          </a:p>
          <a:p>
            <a:r>
              <a:rPr lang="en-US" sz="2800" dirty="0"/>
              <a:t>Around 60 millions parameters total</a:t>
            </a:r>
          </a:p>
        </p:txBody>
      </p:sp>
    </p:spTree>
    <p:extLst>
      <p:ext uri="{BB962C8B-B14F-4D97-AF65-F5344CB8AC3E}">
        <p14:creationId xmlns:p14="http://schemas.microsoft.com/office/powerpoint/2010/main" val="34177317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AlexNet</vt:lpstr>
      <vt:lpstr>Context</vt:lpstr>
      <vt:lpstr>Technical description</vt:lpstr>
      <vt:lpstr>Technical description</vt:lpstr>
      <vt:lpstr>Technical description</vt:lpstr>
      <vt:lpstr>Technical description</vt:lpstr>
      <vt:lpstr>Observations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Xavier Cordonnier</cp:lastModifiedBy>
  <cp:revision>384</cp:revision>
  <dcterms:created xsi:type="dcterms:W3CDTF">2025-11-10T06:26:00Z</dcterms:created>
  <dcterms:modified xsi:type="dcterms:W3CDTF">2025-11-12T06:52:09Z</dcterms:modified>
</cp:coreProperties>
</file>